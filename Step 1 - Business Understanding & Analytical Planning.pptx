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9006A17-400F-A452-8723-0251239157A9}">
          <p14:sldIdLst>
            <p14:sldId id="256"/>
          </p14:sldIdLst>
        </p14:section>
        <p14:section name="Context" id="{872F6F22-D513-5716-534F-A49A3D536487}">
          <p14:sldIdLst>
            <p14:sldId id="257"/>
            <p14:sldId id="258"/>
          </p14:sldIdLst>
        </p14:section>
        <p14:section name="Goals and KPIs" id="{D3D3FAAA-ECE5-08AC-7672-176295B1F6EA}">
          <p14:sldIdLst>
            <p14:sldId id="259"/>
            <p14:sldId id="260"/>
            <p14:sldId id="261"/>
          </p14:sldIdLst>
        </p14:section>
        <p14:section name="Plan" id="{095306CE-DEB5-9DAF-47BB-9D1F351DB37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336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is the plan only: business challenges, goals, KPIs, segments and hypotheses. No results appear here, and the hypotheses are written down before any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tables: customers, vendors, headcount, budget and financial transactions. The counts come straight from the files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challenges named in the brief: cost control, margin improvement, budget adherence and customer concentration. Data reliability is added because the brief asks for integrity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question from the brief becomes a goal that a number, a chart or a test can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Gross margin can't be calculated exactly because there is no cost of goods sold column. Profit margin stands in for it, and the slide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cover the productivity, customer and vendor questions. How inactive employees are treated gets settled during validation in Step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deliverables ask for questions segmented by business unit, period, region and customer type. Transaction category and vendor category support the drill-downs.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to H3 come from the examples in the brief. H4 adds an ANOVA across units and H5 a chi-square test on category mix. All five are fixed now so Step 7 is a fair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4340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Step 1  |  Financial Performance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dge"/>
          <p:cNvSpPr/>
          <p:nvPr/>
        </p:nvSpPr>
        <p:spPr>
          <a:xfrm>
            <a:off x="731520" y="1463040"/>
            <a:ext cx="228600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adge text"/>
          <p:cNvSpPr txBox="1"/>
          <p:nvPr/>
        </p:nvSpPr>
        <p:spPr>
          <a:xfrm>
            <a:off x="73152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CAPSTONE PROJECT</a:t>
            </a:r>
            <a:endParaRPr lang="en-US" sz="11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Financial Performance Analysis</a:t>
            </a:r>
            <a:endParaRPr lang="en-US" sz="4400" dirty="0"/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43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Business Understanding and Analytical Planning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Business context and data overview</a:t>
            </a:r>
            <a:endParaRPr lang="en-US" sz="2800" dirty="0"/>
          </a:p>
        </p:txBody>
      </p:sp>
      <p:sp>
        <p:nvSpPr>
          <p:cNvPr id="3" name="Brief"/>
          <p:cNvSpPr txBox="1"/>
          <p:nvPr/>
        </p:nvSpPr>
        <p:spPr>
          <a:xfrm>
            <a:off x="594360" y="30175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The brief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 Financial Analytics Consultant for the Analytics Center of Excellence, the job is to turn raw financial data into an executive dashboard that supports fiscal decisions and strategy.</a:t>
            </a:r>
            <a:endParaRPr lang="en-US" sz="1600" dirty="0"/>
          </a:p>
        </p:txBody>
      </p:sp>
      <p:sp>
        <p:nvSpPr>
          <p:cNvPr id="4" name="Scope header"/>
          <p:cNvSpPr txBox="1"/>
          <p:nvPr/>
        </p:nvSpPr>
        <p:spPr>
          <a:xfrm>
            <a:off x="3840480" y="640080"/>
            <a:ext cx="3001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the data covers</a:t>
            </a:r>
            <a:endParaRPr lang="en-US" sz="1600" dirty="0"/>
          </a:p>
        </p:txBody>
      </p:sp>
      <p:sp>
        <p:nvSpPr>
          <p:cNvPr id="5" name="Scope 1"/>
          <p:cNvSpPr txBox="1"/>
          <p:nvPr/>
        </p:nvSpPr>
        <p:spPr>
          <a:xfrm>
            <a:off x="384048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Period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January 2022 to December 2023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(24 months)</a:t>
            </a:r>
            <a:endParaRPr lang="en-US" sz="1400" dirty="0"/>
          </a:p>
        </p:txBody>
      </p:sp>
      <p:sp>
        <p:nvSpPr>
          <p:cNvPr id="6" name="Scope 2"/>
          <p:cNvSpPr txBox="1"/>
          <p:nvPr/>
        </p:nvSpPr>
        <p:spPr>
          <a:xfrm>
            <a:off x="777240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Business units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Retail, Online, Enterprise</a:t>
            </a:r>
            <a:endParaRPr lang="en-US" sz="1400" dirty="0"/>
          </a:p>
        </p:txBody>
      </p:sp>
      <p:sp>
        <p:nvSpPr>
          <p:cNvPr id="7" name="Scope 3"/>
          <p:cNvSpPr txBox="1"/>
          <p:nvPr/>
        </p:nvSpPr>
        <p:spPr>
          <a:xfrm>
            <a:off x="384048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North, South, East, West</a:t>
            </a:r>
            <a:endParaRPr lang="en-US" sz="1400" dirty="0"/>
          </a:p>
        </p:txBody>
      </p:sp>
      <p:sp>
        <p:nvSpPr>
          <p:cNvPr id="8" name="Scope 4"/>
          <p:cNvSpPr txBox="1"/>
          <p:nvPr/>
        </p:nvSpPr>
        <p:spPr>
          <a:xfrm>
            <a:off x="777240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5, linked on customer, vendor and business unit</a:t>
            </a:r>
            <a:endParaRPr lang="en-US" sz="1400" dirty="0"/>
          </a:p>
        </p:txBody>
      </p:sp>
      <p:sp>
        <p:nvSpPr>
          <p:cNvPr id="9" name="Stats header"/>
          <p:cNvSpPr txBox="1"/>
          <p:nvPr/>
        </p:nvSpPr>
        <p:spPr>
          <a:xfrm>
            <a:off x="3840480" y="3200400"/>
            <a:ext cx="3001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Records at a glance</a:t>
            </a:r>
            <a:endParaRPr lang="en-US" sz="1600" dirty="0"/>
          </a:p>
        </p:txBody>
      </p:sp>
      <p:sp>
        <p:nvSpPr>
          <p:cNvPr id="10" name="Stat tile 1"/>
          <p:cNvSpPr/>
          <p:nvPr/>
        </p:nvSpPr>
        <p:spPr>
          <a:xfrm>
            <a:off x="3840480" y="3657600"/>
            <a:ext cx="1417320" cy="164592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at value 1"/>
          <p:cNvSpPr txBox="1"/>
          <p:nvPr/>
        </p:nvSpPr>
        <p:spPr>
          <a:xfrm>
            <a:off x="3840480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10,400</a:t>
            </a:r>
            <a:endParaRPr lang="en-US" sz="2400" dirty="0"/>
          </a:p>
        </p:txBody>
      </p:sp>
      <p:sp>
        <p:nvSpPr>
          <p:cNvPr id="12" name="Stat label 1"/>
          <p:cNvSpPr txBox="1"/>
          <p:nvPr/>
        </p:nvSpPr>
        <p:spPr>
          <a:xfrm>
            <a:off x="3931920" y="44805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Financial transactions</a:t>
            </a:r>
            <a:endParaRPr lang="en-US" sz="1200" dirty="0"/>
          </a:p>
        </p:txBody>
      </p:sp>
      <p:sp>
        <p:nvSpPr>
          <p:cNvPr id="13" name="Stat tile 2"/>
          <p:cNvSpPr/>
          <p:nvPr/>
        </p:nvSpPr>
        <p:spPr>
          <a:xfrm>
            <a:off x="5424678" y="3657600"/>
            <a:ext cx="1417320" cy="164592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at value 2"/>
          <p:cNvSpPr txBox="1"/>
          <p:nvPr/>
        </p:nvSpPr>
        <p:spPr>
          <a:xfrm>
            <a:off x="5424678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400</a:t>
            </a:r>
            <a:endParaRPr lang="en-US" sz="2400" dirty="0"/>
          </a:p>
        </p:txBody>
      </p:sp>
      <p:sp>
        <p:nvSpPr>
          <p:cNvPr id="15" name="Stat label 2"/>
          <p:cNvSpPr txBox="1"/>
          <p:nvPr/>
        </p:nvSpPr>
        <p:spPr>
          <a:xfrm>
            <a:off x="5516118" y="44805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Customers</a:t>
            </a:r>
            <a:endParaRPr lang="en-US" sz="1200" dirty="0"/>
          </a:p>
        </p:txBody>
      </p:sp>
      <p:sp>
        <p:nvSpPr>
          <p:cNvPr id="16" name="Stat tile 3"/>
          <p:cNvSpPr/>
          <p:nvPr/>
        </p:nvSpPr>
        <p:spPr>
          <a:xfrm>
            <a:off x="7008876" y="3657600"/>
            <a:ext cx="1417320" cy="164592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at value 3"/>
          <p:cNvSpPr txBox="1"/>
          <p:nvPr/>
        </p:nvSpPr>
        <p:spPr>
          <a:xfrm>
            <a:off x="7008876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120</a:t>
            </a:r>
            <a:endParaRPr lang="en-US" sz="2400" dirty="0"/>
          </a:p>
        </p:txBody>
      </p:sp>
      <p:sp>
        <p:nvSpPr>
          <p:cNvPr id="18" name="Stat label 3"/>
          <p:cNvSpPr txBox="1"/>
          <p:nvPr/>
        </p:nvSpPr>
        <p:spPr>
          <a:xfrm>
            <a:off x="7100316" y="44805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Vendors</a:t>
            </a:r>
            <a:endParaRPr lang="en-US" sz="1200" dirty="0"/>
          </a:p>
        </p:txBody>
      </p:sp>
      <p:sp>
        <p:nvSpPr>
          <p:cNvPr id="19" name="Stat tile 4"/>
          <p:cNvSpPr/>
          <p:nvPr/>
        </p:nvSpPr>
        <p:spPr>
          <a:xfrm>
            <a:off x="8593074" y="3657600"/>
            <a:ext cx="1417320" cy="164592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at value 4"/>
          <p:cNvSpPr txBox="1"/>
          <p:nvPr/>
        </p:nvSpPr>
        <p:spPr>
          <a:xfrm>
            <a:off x="8593074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200</a:t>
            </a:r>
            <a:endParaRPr lang="en-US" sz="2400" dirty="0"/>
          </a:p>
        </p:txBody>
      </p:sp>
      <p:sp>
        <p:nvSpPr>
          <p:cNvPr id="21" name="Stat label 4"/>
          <p:cNvSpPr txBox="1"/>
          <p:nvPr/>
        </p:nvSpPr>
        <p:spPr>
          <a:xfrm>
            <a:off x="8684514" y="44805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Employees</a:t>
            </a:r>
            <a:endParaRPr lang="en-US" sz="1200" dirty="0"/>
          </a:p>
        </p:txBody>
      </p:sp>
      <p:sp>
        <p:nvSpPr>
          <p:cNvPr id="22" name="Stat tile 5"/>
          <p:cNvSpPr/>
          <p:nvPr/>
        </p:nvSpPr>
        <p:spPr>
          <a:xfrm>
            <a:off x="10177272" y="3657600"/>
            <a:ext cx="1417320" cy="164592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at value 5"/>
          <p:cNvSpPr txBox="1"/>
          <p:nvPr/>
        </p:nvSpPr>
        <p:spPr>
          <a:xfrm>
            <a:off x="10177272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72</a:t>
            </a:r>
            <a:endParaRPr lang="en-US" sz="2400" dirty="0"/>
          </a:p>
        </p:txBody>
      </p:sp>
      <p:sp>
        <p:nvSpPr>
          <p:cNvPr id="24" name="Stat label 5"/>
          <p:cNvSpPr txBox="1"/>
          <p:nvPr/>
        </p:nvSpPr>
        <p:spPr>
          <a:xfrm>
            <a:off x="10268712" y="44805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Budget lines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Core business challenges</a:t>
            </a:r>
            <a:endParaRPr lang="en-US" sz="2800" dirty="0"/>
          </a:p>
        </p:txBody>
      </p:sp>
      <p:sp>
        <p:nvSpPr>
          <p:cNvPr id="3" name="Side note"/>
          <p:cNvSpPr txBox="1"/>
          <p:nvPr/>
        </p:nvSpPr>
        <p:spPr>
          <a:xfrm>
            <a:off x="594360" y="29260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Five problems the analysis has to address, from cost control through to trust in the data.</a:t>
            </a:r>
            <a:endParaRPr lang="en-US" sz="1400" dirty="0"/>
          </a:p>
        </p:txBody>
      </p:sp>
      <p:sp>
        <p:nvSpPr>
          <p:cNvPr id="4" name="Challenge number 1"/>
          <p:cNvSpPr txBox="1"/>
          <p:nvPr/>
        </p:nvSpPr>
        <p:spPr>
          <a:xfrm>
            <a:off x="384048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5" name="Challenge 1"/>
          <p:cNvSpPr txBox="1"/>
          <p:nvPr/>
        </p:nvSpPr>
        <p:spPr>
          <a:xfrm>
            <a:off x="4663440" y="640080"/>
            <a:ext cx="6931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Cost control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Track expense by unit and category (payroll, rent, utilities, supplies, marketing, other) to spot cost spikes and expensive vendors.</a:t>
            </a:r>
            <a:endParaRPr lang="en-US" sz="1600" dirty="0"/>
          </a:p>
        </p:txBody>
      </p:sp>
      <p:sp>
        <p:nvSpPr>
          <p:cNvPr id="6" name="Rule 1"/>
          <p:cNvSpPr/>
          <p:nvPr/>
        </p:nvSpPr>
        <p:spPr>
          <a:xfrm>
            <a:off x="3840480" y="164592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allenge number 2"/>
          <p:cNvSpPr txBox="1"/>
          <p:nvPr/>
        </p:nvSpPr>
        <p:spPr>
          <a:xfrm>
            <a:off x="38404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2</a:t>
            </a:r>
            <a:endParaRPr lang="en-US" sz="3600" dirty="0"/>
          </a:p>
        </p:txBody>
      </p:sp>
      <p:sp>
        <p:nvSpPr>
          <p:cNvPr id="8" name="Challenge 2"/>
          <p:cNvSpPr txBox="1"/>
          <p:nvPr/>
        </p:nvSpPr>
        <p:spPr>
          <a:xfrm>
            <a:off x="4663440" y="1737360"/>
            <a:ext cx="6931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Margin improvement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Revenue from products, services and subscriptions must outgrow expense. Profit margin by unit, region and month shows where it is squeezed.</a:t>
            </a:r>
            <a:endParaRPr lang="en-US" sz="1600" dirty="0"/>
          </a:p>
        </p:txBody>
      </p:sp>
      <p:sp>
        <p:nvSpPr>
          <p:cNvPr id="9" name="Rule 2"/>
          <p:cNvSpPr/>
          <p:nvPr/>
        </p:nvSpPr>
        <p:spPr>
          <a:xfrm>
            <a:off x="3840480" y="274320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allenge number 3"/>
          <p:cNvSpPr txBox="1"/>
          <p:nvPr/>
        </p:nvSpPr>
        <p:spPr>
          <a:xfrm>
            <a:off x="384048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3</a:t>
            </a:r>
            <a:endParaRPr lang="en-US" sz="3600" dirty="0"/>
          </a:p>
        </p:txBody>
      </p:sp>
      <p:sp>
        <p:nvSpPr>
          <p:cNvPr id="11" name="Challenge 3"/>
          <p:cNvSpPr txBox="1"/>
          <p:nvPr/>
        </p:nvSpPr>
        <p:spPr>
          <a:xfrm>
            <a:off x="4663440" y="2834640"/>
            <a:ext cx="6931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Budget adherence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Compare monthly actuals with budget for each unit. Early checks show the two sit on very different scales, so this needs a closer look.</a:t>
            </a:r>
            <a:endParaRPr lang="en-US" sz="1600" dirty="0"/>
          </a:p>
        </p:txBody>
      </p:sp>
      <p:sp>
        <p:nvSpPr>
          <p:cNvPr id="12" name="Rule 3"/>
          <p:cNvSpPr/>
          <p:nvPr/>
        </p:nvSpPr>
        <p:spPr>
          <a:xfrm>
            <a:off x="3840480" y="384048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hallenge number 4"/>
          <p:cNvSpPr txBox="1"/>
          <p:nvPr/>
        </p:nvSpPr>
        <p:spPr>
          <a:xfrm>
            <a:off x="384048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4</a:t>
            </a:r>
            <a:endParaRPr lang="en-US" sz="3600" dirty="0"/>
          </a:p>
        </p:txBody>
      </p:sp>
      <p:sp>
        <p:nvSpPr>
          <p:cNvPr id="14" name="Challenge 4"/>
          <p:cNvSpPr txBox="1"/>
          <p:nvPr/>
        </p:nvSpPr>
        <p:spPr>
          <a:xfrm>
            <a:off x="4663440" y="3931920"/>
            <a:ext cx="6931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and vendor dependence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Leaning on a few customers or vendors is a risk. Measure how revenue and spend are spread across them.</a:t>
            </a:r>
            <a:endParaRPr lang="en-US" sz="1600" dirty="0"/>
          </a:p>
        </p:txBody>
      </p:sp>
      <p:sp>
        <p:nvSpPr>
          <p:cNvPr id="15" name="Rule 4"/>
          <p:cNvSpPr/>
          <p:nvPr/>
        </p:nvSpPr>
        <p:spPr>
          <a:xfrm>
            <a:off x="3840480" y="493776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hallenge number 5"/>
          <p:cNvSpPr txBox="1"/>
          <p:nvPr/>
        </p:nvSpPr>
        <p:spPr>
          <a:xfrm>
            <a:off x="384048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5</a:t>
            </a:r>
            <a:endParaRPr lang="en-US" sz="3600" dirty="0"/>
          </a:p>
        </p:txBody>
      </p:sp>
      <p:sp>
        <p:nvSpPr>
          <p:cNvPr id="17" name="Challenge 5"/>
          <p:cNvSpPr txBox="1"/>
          <p:nvPr/>
        </p:nvSpPr>
        <p:spPr>
          <a:xfrm>
            <a:off x="4663440" y="5029200"/>
            <a:ext cx="6931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Data reliability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Insights only hold up if the data is sound, so keys, categories, dates, missing values and anomalies get validated 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business questions to analytical goals</a:t>
            </a:r>
            <a:endParaRPr lang="en-US" sz="2800" dirty="0"/>
          </a:p>
        </p:txBody>
      </p:sp>
      <p:sp>
        <p:nvSpPr>
          <p:cNvPr id="3" name="Side note"/>
          <p:cNvSpPr txBox="1"/>
          <p:nvPr/>
        </p:nvSpPr>
        <p:spPr>
          <a:xfrm>
            <a:off x="594360" y="30175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question from the brief is paired with a goal that a number, chart or test can answer.</a:t>
            </a:r>
            <a:endParaRPr lang="en-US" sz="1400" dirty="0"/>
          </a:p>
        </p:txBody>
      </p:sp>
      <p:sp>
        <p:nvSpPr>
          <p:cNvPr id="4" name="Question and goal 1"/>
          <p:cNvSpPr txBox="1"/>
          <p:nvPr/>
        </p:nvSpPr>
        <p:spPr>
          <a:xfrm>
            <a:off x="3840480" y="640080"/>
            <a:ext cx="7754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Are revenue and costs on track with targets?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Compare actual with budget by month, quarter and unit, and flag periods that fall short or run over.</a:t>
            </a:r>
            <a:endParaRPr lang="en-US" sz="1400" dirty="0"/>
          </a:p>
        </p:txBody>
      </p:sp>
      <p:sp>
        <p:nvSpPr>
          <p:cNvPr id="5" name="Rule 1"/>
          <p:cNvSpPr/>
          <p:nvPr/>
        </p:nvSpPr>
        <p:spPr>
          <a:xfrm>
            <a:off x="3840480" y="164592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Question and goal 2"/>
          <p:cNvSpPr txBox="1"/>
          <p:nvPr/>
        </p:nvSpPr>
        <p:spPr>
          <a:xfrm>
            <a:off x="3840480" y="1737360"/>
            <a:ext cx="7754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Where do budget overruns and underspends happen?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Measure variance by unit and expense category and find what drives it.</a:t>
            </a:r>
            <a:endParaRPr lang="en-US" sz="1400" dirty="0"/>
          </a:p>
        </p:txBody>
      </p:sp>
      <p:sp>
        <p:nvSpPr>
          <p:cNvPr id="7" name="Rule 2"/>
          <p:cNvSpPr/>
          <p:nvPr/>
        </p:nvSpPr>
        <p:spPr>
          <a:xfrm>
            <a:off x="3840480" y="274320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Question and goal 3"/>
          <p:cNvSpPr txBox="1"/>
          <p:nvPr/>
        </p:nvSpPr>
        <p:spPr>
          <a:xfrm>
            <a:off x="3840480" y="2834640"/>
            <a:ext cx="7754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Who are the most valuable customers and the costliest vendors?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Rank customers by revenue and vendors by spend, then check how concentrated each list is.</a:t>
            </a:r>
            <a:endParaRPr lang="en-US" sz="1400" dirty="0"/>
          </a:p>
        </p:txBody>
      </p:sp>
      <p:sp>
        <p:nvSpPr>
          <p:cNvPr id="9" name="Rule 3"/>
          <p:cNvSpPr/>
          <p:nvPr/>
        </p:nvSpPr>
        <p:spPr>
          <a:xfrm>
            <a:off x="3840480" y="384048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Question and goal 4"/>
          <p:cNvSpPr txBox="1"/>
          <p:nvPr/>
        </p:nvSpPr>
        <p:spPr>
          <a:xfrm>
            <a:off x="3840480" y="3931920"/>
            <a:ext cx="7754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How do headcount cost and productivity compare across units and regions?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Compare cost per employee and revenue per employee by unit and region.</a:t>
            </a:r>
            <a:endParaRPr lang="en-US" sz="1400" dirty="0"/>
          </a:p>
        </p:txBody>
      </p:sp>
      <p:sp>
        <p:nvSpPr>
          <p:cNvPr id="11" name="Rule 4"/>
          <p:cNvSpPr/>
          <p:nvPr/>
        </p:nvSpPr>
        <p:spPr>
          <a:xfrm>
            <a:off x="3840480" y="493776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Question and goal 5"/>
          <p:cNvSpPr txBox="1"/>
          <p:nvPr/>
        </p:nvSpPr>
        <p:spPr>
          <a:xfrm>
            <a:off x="3840480" y="5029200"/>
            <a:ext cx="7754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Are there data integrity issues or anomalies?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Validate keys, categories and dates, flag outliers and log every cleaning step.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KPIs: financial performance</a:t>
            </a:r>
            <a:endParaRPr lang="en-US" sz="2800" dirty="0"/>
          </a:p>
        </p:txBody>
      </p:sp>
      <p:sp>
        <p:nvSpPr>
          <p:cNvPr id="3" name="Side note"/>
          <p:cNvSpPr txBox="1"/>
          <p:nvPr/>
        </p:nvSpPr>
        <p:spPr>
          <a:xfrm>
            <a:off x="594360" y="2194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revenue, expense, profit and budget performance will be measured.</a:t>
            </a:r>
            <a:endParaRPr lang="en-US" sz="1400" dirty="0"/>
          </a:p>
        </p:txBody>
      </p:sp>
      <p:sp>
        <p:nvSpPr>
          <p:cNvPr id="4" name="KPI name 1"/>
          <p:cNvSpPr txBox="1"/>
          <p:nvPr/>
        </p:nvSpPr>
        <p:spPr>
          <a:xfrm>
            <a:off x="3840480" y="640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</a:t>
            </a:r>
            <a:endParaRPr lang="en-US" sz="1600" dirty="0"/>
          </a:p>
        </p:txBody>
      </p:sp>
      <p:sp>
        <p:nvSpPr>
          <p:cNvPr id="5" name="KPI detail 1"/>
          <p:cNvSpPr txBox="1"/>
          <p:nvPr/>
        </p:nvSpPr>
        <p:spPr>
          <a:xfrm>
            <a:off x="6126480" y="64008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Sum of amount where account_type is Revenue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Financial_Transactions (amount, account_type)</a:t>
            </a:r>
            <a:endParaRPr lang="en-US" sz="1400" dirty="0"/>
          </a:p>
        </p:txBody>
      </p:sp>
      <p:sp>
        <p:nvSpPr>
          <p:cNvPr id="6" name="Rule 1"/>
          <p:cNvSpPr/>
          <p:nvPr/>
        </p:nvSpPr>
        <p:spPr>
          <a:xfrm>
            <a:off x="3840480" y="164592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PI name 2"/>
          <p:cNvSpPr txBox="1"/>
          <p:nvPr/>
        </p:nvSpPr>
        <p:spPr>
          <a:xfrm>
            <a:off x="384048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Expense</a:t>
            </a:r>
            <a:endParaRPr lang="en-US" sz="1600" dirty="0"/>
          </a:p>
        </p:txBody>
      </p:sp>
      <p:sp>
        <p:nvSpPr>
          <p:cNvPr id="8" name="KPI detail 2"/>
          <p:cNvSpPr txBox="1"/>
          <p:nvPr/>
        </p:nvSpPr>
        <p:spPr>
          <a:xfrm>
            <a:off x="6126480" y="173736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Absolute sum of amount where account_type is Expense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Financial_Transactions (amount, account_type)</a:t>
            </a:r>
            <a:endParaRPr lang="en-US" sz="1400" dirty="0"/>
          </a:p>
        </p:txBody>
      </p:sp>
      <p:sp>
        <p:nvSpPr>
          <p:cNvPr id="9" name="Rule 2"/>
          <p:cNvSpPr/>
          <p:nvPr/>
        </p:nvSpPr>
        <p:spPr>
          <a:xfrm>
            <a:off x="3840480" y="274320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KPI name 3"/>
          <p:cNvSpPr txBox="1"/>
          <p:nvPr/>
        </p:nvSpPr>
        <p:spPr>
          <a:xfrm>
            <a:off x="384048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Profit</a:t>
            </a:r>
            <a:endParaRPr lang="en-US" sz="1600" dirty="0"/>
          </a:p>
        </p:txBody>
      </p:sp>
      <p:sp>
        <p:nvSpPr>
          <p:cNvPr id="11" name="KPI detail 3"/>
          <p:cNvSpPr txBox="1"/>
          <p:nvPr/>
        </p:nvSpPr>
        <p:spPr>
          <a:xfrm>
            <a:off x="6126480" y="283464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Revenue minus Expense (Asset, Liability and Equity left out)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Derived</a:t>
            </a:r>
            <a:endParaRPr lang="en-US" sz="1400" dirty="0"/>
          </a:p>
        </p:txBody>
      </p:sp>
      <p:sp>
        <p:nvSpPr>
          <p:cNvPr id="12" name="Rule 3"/>
          <p:cNvSpPr/>
          <p:nvPr/>
        </p:nvSpPr>
        <p:spPr>
          <a:xfrm>
            <a:off x="3840480" y="384048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KPI name 4"/>
          <p:cNvSpPr txBox="1"/>
          <p:nvPr/>
        </p:nvSpPr>
        <p:spPr>
          <a:xfrm>
            <a:off x="3840480" y="3931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Profit Margin %</a:t>
            </a:r>
            <a:endParaRPr lang="en-US" sz="1600" dirty="0"/>
          </a:p>
        </p:txBody>
      </p:sp>
      <p:sp>
        <p:nvSpPr>
          <p:cNvPr id="14" name="KPI detail 4"/>
          <p:cNvSpPr txBox="1"/>
          <p:nvPr/>
        </p:nvSpPr>
        <p:spPr>
          <a:xfrm>
            <a:off x="6126480" y="393192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Profit divided by Revenue, times 100. Used in place of gross margin because there is no cost-of-goods field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Derived</a:t>
            </a:r>
            <a:endParaRPr lang="en-US" sz="1400" dirty="0"/>
          </a:p>
        </p:txBody>
      </p:sp>
      <p:sp>
        <p:nvSpPr>
          <p:cNvPr id="15" name="Rule 4"/>
          <p:cNvSpPr/>
          <p:nvPr/>
        </p:nvSpPr>
        <p:spPr>
          <a:xfrm>
            <a:off x="3840480" y="493776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KPI name 5"/>
          <p:cNvSpPr txBox="1"/>
          <p:nvPr/>
        </p:nvSpPr>
        <p:spPr>
          <a:xfrm>
            <a:off x="3840480" y="5029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Budget Variance</a:t>
            </a:r>
            <a:endParaRPr lang="en-US" sz="1600" dirty="0"/>
          </a:p>
        </p:txBody>
      </p:sp>
      <p:sp>
        <p:nvSpPr>
          <p:cNvPr id="17" name="KPI detail 5"/>
          <p:cNvSpPr txBox="1"/>
          <p:nvPr/>
        </p:nvSpPr>
        <p:spPr>
          <a:xfrm>
            <a:off x="6126480" y="502920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Actual minus Budget for revenue and expense, plus variance % and expense utilization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Budget + Financial_Transactions by year, month, unit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KPIs: people, customers and vendors</a:t>
            </a:r>
            <a:endParaRPr lang="en-US" sz="2800" dirty="0"/>
          </a:p>
        </p:txBody>
      </p:sp>
      <p:sp>
        <p:nvSpPr>
          <p:cNvPr id="3" name="Side note"/>
          <p:cNvSpPr txBox="1"/>
          <p:nvPr/>
        </p:nvSpPr>
        <p:spPr>
          <a:xfrm>
            <a:off x="594360" y="29260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Productivity, customer and vendor measures built on the same tables.</a:t>
            </a:r>
            <a:endParaRPr lang="en-US" sz="1400" dirty="0"/>
          </a:p>
        </p:txBody>
      </p:sp>
      <p:sp>
        <p:nvSpPr>
          <p:cNvPr id="4" name="KPI name 1"/>
          <p:cNvSpPr txBox="1"/>
          <p:nvPr/>
        </p:nvSpPr>
        <p:spPr>
          <a:xfrm>
            <a:off x="3840480" y="640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Cost per Employee</a:t>
            </a:r>
            <a:endParaRPr lang="en-US" sz="1600" dirty="0"/>
          </a:p>
        </p:txBody>
      </p:sp>
      <p:sp>
        <p:nvSpPr>
          <p:cNvPr id="5" name="KPI detail 1"/>
          <p:cNvSpPr txBox="1"/>
          <p:nvPr/>
        </p:nvSpPr>
        <p:spPr>
          <a:xfrm>
            <a:off x="6126480" y="64008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Total annual CTC divided by active employees, by business unit and region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Headcount (cost_to_company, status)</a:t>
            </a:r>
            <a:endParaRPr lang="en-US" sz="1400" dirty="0"/>
          </a:p>
        </p:txBody>
      </p:sp>
      <p:sp>
        <p:nvSpPr>
          <p:cNvPr id="6" name="Rule 1"/>
          <p:cNvSpPr/>
          <p:nvPr/>
        </p:nvSpPr>
        <p:spPr>
          <a:xfrm>
            <a:off x="3840480" y="164592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PI name 2"/>
          <p:cNvSpPr txBox="1"/>
          <p:nvPr/>
        </p:nvSpPr>
        <p:spPr>
          <a:xfrm>
            <a:off x="384048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per Employee</a:t>
            </a:r>
            <a:endParaRPr lang="en-US" sz="1600" dirty="0"/>
          </a:p>
        </p:txBody>
      </p:sp>
      <p:sp>
        <p:nvSpPr>
          <p:cNvPr id="8" name="KPI detail 2"/>
          <p:cNvSpPr txBox="1"/>
          <p:nvPr/>
        </p:nvSpPr>
        <p:spPr>
          <a:xfrm>
            <a:off x="6126480" y="173736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Revenue divided by active employees, by business unit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Transactions + Headcount</a:t>
            </a:r>
            <a:endParaRPr lang="en-US" sz="1400" dirty="0"/>
          </a:p>
        </p:txBody>
      </p:sp>
      <p:sp>
        <p:nvSpPr>
          <p:cNvPr id="9" name="Rule 2"/>
          <p:cNvSpPr/>
          <p:nvPr/>
        </p:nvSpPr>
        <p:spPr>
          <a:xfrm>
            <a:off x="3840480" y="274320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KPI name 3"/>
          <p:cNvSpPr txBox="1"/>
          <p:nvPr/>
        </p:nvSpPr>
        <p:spPr>
          <a:xfrm>
            <a:off x="384048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per Customer</a:t>
            </a:r>
            <a:endParaRPr lang="en-US" sz="1600" dirty="0"/>
          </a:p>
        </p:txBody>
      </p:sp>
      <p:sp>
        <p:nvSpPr>
          <p:cNvPr id="11" name="KPI detail 3"/>
          <p:cNvSpPr txBox="1"/>
          <p:nvPr/>
        </p:nvSpPr>
        <p:spPr>
          <a:xfrm>
            <a:off x="6126480" y="283464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Revenue divided by paying customers, by segment and region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Transactions + Customers</a:t>
            </a:r>
            <a:endParaRPr lang="en-US" sz="1400" dirty="0"/>
          </a:p>
        </p:txBody>
      </p:sp>
      <p:sp>
        <p:nvSpPr>
          <p:cNvPr id="12" name="Rule 3"/>
          <p:cNvSpPr/>
          <p:nvPr/>
        </p:nvSpPr>
        <p:spPr>
          <a:xfrm>
            <a:off x="3840480" y="384048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KPI name 4"/>
          <p:cNvSpPr txBox="1"/>
          <p:nvPr/>
        </p:nvSpPr>
        <p:spPr>
          <a:xfrm>
            <a:off x="3840480" y="3931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Expense per Vendor</a:t>
            </a:r>
            <a:endParaRPr lang="en-US" sz="1600" dirty="0"/>
          </a:p>
        </p:txBody>
      </p:sp>
      <p:sp>
        <p:nvSpPr>
          <p:cNvPr id="14" name="KPI detail 4"/>
          <p:cNvSpPr txBox="1"/>
          <p:nvPr/>
        </p:nvSpPr>
        <p:spPr>
          <a:xfrm>
            <a:off x="6126480" y="393192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Expense divided by vendors paid, by vendor category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Transactions + Vendors</a:t>
            </a:r>
            <a:endParaRPr lang="en-US" sz="1400" dirty="0"/>
          </a:p>
        </p:txBody>
      </p:sp>
      <p:sp>
        <p:nvSpPr>
          <p:cNvPr id="15" name="Rule 4"/>
          <p:cNvSpPr/>
          <p:nvPr/>
        </p:nvSpPr>
        <p:spPr>
          <a:xfrm>
            <a:off x="3840480" y="493776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KPI name 5"/>
          <p:cNvSpPr txBox="1"/>
          <p:nvPr/>
        </p:nvSpPr>
        <p:spPr>
          <a:xfrm>
            <a:off x="3840480" y="5029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Top-10 Customer Share</a:t>
            </a:r>
            <a:endParaRPr lang="en-US" sz="1600" dirty="0"/>
          </a:p>
        </p:txBody>
      </p:sp>
      <p:sp>
        <p:nvSpPr>
          <p:cNvPr id="17" name="KPI detail 5"/>
          <p:cNvSpPr txBox="1"/>
          <p:nvPr/>
        </p:nvSpPr>
        <p:spPr>
          <a:xfrm>
            <a:off x="6126480" y="5029200"/>
            <a:ext cx="5468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Revenue from the 10 largest customers divided by total revenue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Transactions + Customers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Segmentation plan</a:t>
            </a:r>
            <a:endParaRPr lang="en-US" sz="2800" dirty="0"/>
          </a:p>
        </p:txBody>
      </p:sp>
      <p:sp>
        <p:nvSpPr>
          <p:cNvPr id="3" name="Side note"/>
          <p:cNvSpPr txBox="1"/>
          <p:nvPr/>
        </p:nvSpPr>
        <p:spPr>
          <a:xfrm>
            <a:off x="594360" y="31089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These six dimensions will become the filters and drill-downs in </a:t>
            </a:r>
            <a:r>
              <a:rPr lang="en-US" sz="1400" dirty="0"/>
              <a:t>the dashboard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4" name="Segment tile 1"/>
          <p:cNvSpPr/>
          <p:nvPr/>
        </p:nvSpPr>
        <p:spPr>
          <a:xfrm>
            <a:off x="3840480" y="640080"/>
            <a:ext cx="3749040" cy="1691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egment text 1"/>
          <p:cNvSpPr txBox="1"/>
          <p:nvPr/>
        </p:nvSpPr>
        <p:spPr>
          <a:xfrm>
            <a:off x="3977640" y="74980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Business unit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Retail, Online, Enterprise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Used for: Every KPI; unit league table</a:t>
            </a:r>
            <a:endParaRPr lang="en-US" sz="1600" dirty="0"/>
          </a:p>
        </p:txBody>
      </p:sp>
      <p:sp>
        <p:nvSpPr>
          <p:cNvPr id="6" name="Segment tile 2"/>
          <p:cNvSpPr/>
          <p:nvPr/>
        </p:nvSpPr>
        <p:spPr>
          <a:xfrm>
            <a:off x="7845552" y="640080"/>
            <a:ext cx="3749040" cy="1691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gment text 2"/>
          <p:cNvSpPr txBox="1"/>
          <p:nvPr/>
        </p:nvSpPr>
        <p:spPr>
          <a:xfrm>
            <a:off x="7982712" y="74980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Period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Month, quarter and year (2022 to 2023)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Used for: Trends, seasonality, budget variance</a:t>
            </a:r>
            <a:endParaRPr lang="en-US" sz="1600" dirty="0"/>
          </a:p>
        </p:txBody>
      </p:sp>
      <p:sp>
        <p:nvSpPr>
          <p:cNvPr id="8" name="Segment tile 3"/>
          <p:cNvSpPr/>
          <p:nvPr/>
        </p:nvSpPr>
        <p:spPr>
          <a:xfrm>
            <a:off x="3840480" y="2468880"/>
            <a:ext cx="3749040" cy="1691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egment text 3"/>
          <p:cNvSpPr txBox="1"/>
          <p:nvPr/>
        </p:nvSpPr>
        <p:spPr>
          <a:xfrm>
            <a:off x="3977640" y="257860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Region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North, South, East, West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Used for: Revenue, expense, cost per employee</a:t>
            </a:r>
            <a:endParaRPr lang="en-US" sz="1600" dirty="0"/>
          </a:p>
        </p:txBody>
      </p:sp>
      <p:sp>
        <p:nvSpPr>
          <p:cNvPr id="10" name="Segment tile 4"/>
          <p:cNvSpPr/>
          <p:nvPr/>
        </p:nvSpPr>
        <p:spPr>
          <a:xfrm>
            <a:off x="7845552" y="2468880"/>
            <a:ext cx="3749040" cy="1691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egment text 4"/>
          <p:cNvSpPr txBox="1"/>
          <p:nvPr/>
        </p:nvSpPr>
        <p:spPr>
          <a:xfrm>
            <a:off x="7982712" y="257860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Customer type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Segment (Retail, Online, Enterprise) and status (Active, Inactive)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Used for: Revenue per customer, concentration</a:t>
            </a:r>
            <a:endParaRPr lang="en-US" sz="1600" dirty="0"/>
          </a:p>
        </p:txBody>
      </p:sp>
      <p:sp>
        <p:nvSpPr>
          <p:cNvPr id="12" name="Segment tile 5"/>
          <p:cNvSpPr/>
          <p:nvPr/>
        </p:nvSpPr>
        <p:spPr>
          <a:xfrm>
            <a:off x="3840480" y="4297680"/>
            <a:ext cx="3749040" cy="1691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egment text 5"/>
          <p:cNvSpPr txBox="1"/>
          <p:nvPr/>
        </p:nvSpPr>
        <p:spPr>
          <a:xfrm>
            <a:off x="3977640" y="440740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Transaction category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Revenue: Product, Service, Subscription. Expense: Payroll, Rent, Utilities, Supplies, Marketing, Other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Used for: Variance and cost drivers</a:t>
            </a:r>
            <a:endParaRPr lang="en-US" sz="1600" dirty="0"/>
          </a:p>
        </p:txBody>
      </p:sp>
      <p:sp>
        <p:nvSpPr>
          <p:cNvPr id="14" name="Segment tile 6"/>
          <p:cNvSpPr/>
          <p:nvPr/>
        </p:nvSpPr>
        <p:spPr>
          <a:xfrm>
            <a:off x="7845552" y="4297680"/>
            <a:ext cx="3749040" cy="1691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gment text 6"/>
          <p:cNvSpPr txBox="1"/>
          <p:nvPr/>
        </p:nvSpPr>
        <p:spPr>
          <a:xfrm>
            <a:off x="7982712" y="440740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Vendor category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Rent, Services, Utilities, Consulting, Supplies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Used for: Spend per vendor, costliest vendors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640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Hypotheses test</a:t>
            </a:r>
            <a:endParaRPr lang="en-US" sz="2800" dirty="0"/>
          </a:p>
        </p:txBody>
      </p:sp>
      <p:sp>
        <p:nvSpPr>
          <p:cNvPr id="3" name="Side note"/>
          <p:cNvSpPr txBox="1"/>
          <p:nvPr/>
        </p:nvSpPr>
        <p:spPr>
          <a:xfrm>
            <a:off x="594360" y="1828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Written before any testing. Significance level (∝) 0.05. Each null hypothesis states no difference or no association. No regression or prediction.</a:t>
            </a:r>
            <a:endParaRPr lang="en-US" sz="1400" dirty="0"/>
          </a:p>
        </p:txBody>
      </p:sp>
      <p:sp>
        <p:nvSpPr>
          <p:cNvPr id="4" name="Hypothesis ID 1"/>
          <p:cNvSpPr txBox="1"/>
          <p:nvPr/>
        </p:nvSpPr>
        <p:spPr>
          <a:xfrm>
            <a:off x="3840480" y="640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H1</a:t>
            </a:r>
            <a:endParaRPr lang="en-US" sz="3200" dirty="0"/>
          </a:p>
        </p:txBody>
      </p:sp>
      <p:sp>
        <p:nvSpPr>
          <p:cNvPr id="5" name="Hypothesis 1"/>
          <p:cNvSpPr txBox="1"/>
          <p:nvPr/>
        </p:nvSpPr>
        <p:spPr>
          <a:xfrm>
            <a:off x="4754880" y="685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 monthly revenue differs between 2022 and 2023</a:t>
            </a:r>
            <a:endParaRPr lang="en-US" sz="1400" dirty="0"/>
          </a:p>
        </p:txBody>
      </p:sp>
      <p:sp>
        <p:nvSpPr>
          <p:cNvPr id="6" name="Test 1"/>
          <p:cNvSpPr txBox="1"/>
          <p:nvPr/>
        </p:nvSpPr>
        <p:spPr>
          <a:xfrm>
            <a:off x="8915400" y="685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t-test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2022 vs 2023</a:t>
            </a:r>
            <a:endParaRPr lang="en-US" sz="1400" dirty="0"/>
          </a:p>
        </p:txBody>
      </p:sp>
      <p:sp>
        <p:nvSpPr>
          <p:cNvPr id="7" name="Rule 1"/>
          <p:cNvSpPr/>
          <p:nvPr/>
        </p:nvSpPr>
        <p:spPr>
          <a:xfrm>
            <a:off x="3840480" y="164592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ypothesis ID 2"/>
          <p:cNvSpPr txBox="1"/>
          <p:nvPr/>
        </p:nvSpPr>
        <p:spPr>
          <a:xfrm>
            <a:off x="3840480" y="1737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H2</a:t>
            </a:r>
            <a:endParaRPr lang="en-US" sz="3200" dirty="0"/>
          </a:p>
        </p:txBody>
      </p:sp>
      <p:sp>
        <p:nvSpPr>
          <p:cNvPr id="9" name="Hypothesis 2"/>
          <p:cNvSpPr txBox="1"/>
          <p:nvPr/>
        </p:nvSpPr>
        <p:spPr>
          <a:xfrm>
            <a:off x="4754880" y="1783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Actual revenue differs from budgeted revenue</a:t>
            </a:r>
            <a:endParaRPr lang="en-US" sz="1400" dirty="0"/>
          </a:p>
        </p:txBody>
      </p:sp>
      <p:sp>
        <p:nvSpPr>
          <p:cNvPr id="10" name="Test 2"/>
          <p:cNvSpPr txBox="1"/>
          <p:nvPr/>
        </p:nvSpPr>
        <p:spPr>
          <a:xfrm>
            <a:off x="891540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Paired t-test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Actual vs budget</a:t>
            </a:r>
            <a:endParaRPr lang="en-US" sz="1400" dirty="0"/>
          </a:p>
        </p:txBody>
      </p:sp>
      <p:sp>
        <p:nvSpPr>
          <p:cNvPr id="11" name="Rule 2"/>
          <p:cNvSpPr/>
          <p:nvPr/>
        </p:nvSpPr>
        <p:spPr>
          <a:xfrm>
            <a:off x="3840480" y="274320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ypothesis ID 3"/>
          <p:cNvSpPr txBox="1"/>
          <p:nvPr/>
        </p:nvSpPr>
        <p:spPr>
          <a:xfrm>
            <a:off x="3840480" y="2834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H3</a:t>
            </a:r>
            <a:endParaRPr lang="en-US" sz="3200" dirty="0"/>
          </a:p>
        </p:txBody>
      </p:sp>
      <p:sp>
        <p:nvSpPr>
          <p:cNvPr id="13" name="Hypothesis 3"/>
          <p:cNvSpPr txBox="1"/>
          <p:nvPr/>
        </p:nvSpPr>
        <p:spPr>
          <a:xfrm>
            <a:off x="4754880" y="2880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Actual expense differs from budgeted expense</a:t>
            </a:r>
            <a:endParaRPr lang="en-US" sz="1400" dirty="0"/>
          </a:p>
        </p:txBody>
      </p:sp>
      <p:sp>
        <p:nvSpPr>
          <p:cNvPr id="14" name="Test 3"/>
          <p:cNvSpPr txBox="1"/>
          <p:nvPr/>
        </p:nvSpPr>
        <p:spPr>
          <a:xfrm>
            <a:off x="8915400" y="2880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Paired t-test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Actual vs budget</a:t>
            </a:r>
            <a:endParaRPr lang="en-US" sz="1400" dirty="0"/>
          </a:p>
        </p:txBody>
      </p:sp>
      <p:sp>
        <p:nvSpPr>
          <p:cNvPr id="15" name="Rule 3"/>
          <p:cNvSpPr/>
          <p:nvPr/>
        </p:nvSpPr>
        <p:spPr>
          <a:xfrm>
            <a:off x="3840480" y="384048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Hypothesis ID 4"/>
          <p:cNvSpPr txBox="1"/>
          <p:nvPr/>
        </p:nvSpPr>
        <p:spPr>
          <a:xfrm>
            <a:off x="3840480" y="39319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H4</a:t>
            </a:r>
            <a:endParaRPr lang="en-US" sz="3200" dirty="0"/>
          </a:p>
        </p:txBody>
      </p:sp>
      <p:sp>
        <p:nvSpPr>
          <p:cNvPr id="17" name="Hypothesis 4"/>
          <p:cNvSpPr txBox="1"/>
          <p:nvPr/>
        </p:nvSpPr>
        <p:spPr>
          <a:xfrm>
            <a:off x="4754880" y="3977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 revenue per transaction differs across business units</a:t>
            </a:r>
            <a:endParaRPr lang="en-US" sz="1400" dirty="0"/>
          </a:p>
        </p:txBody>
      </p:sp>
      <p:sp>
        <p:nvSpPr>
          <p:cNvPr id="18" name="Test 4"/>
          <p:cNvSpPr txBox="1"/>
          <p:nvPr/>
        </p:nvSpPr>
        <p:spPr>
          <a:xfrm>
            <a:off x="8915400" y="3977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ANOVA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 units</a:t>
            </a:r>
            <a:endParaRPr lang="en-US" sz="1400" dirty="0"/>
          </a:p>
        </p:txBody>
      </p:sp>
      <p:sp>
        <p:nvSpPr>
          <p:cNvPr id="19" name="Rule 4"/>
          <p:cNvSpPr/>
          <p:nvPr/>
        </p:nvSpPr>
        <p:spPr>
          <a:xfrm>
            <a:off x="3840480" y="4937760"/>
            <a:ext cx="775411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Hypothesis ID 5"/>
          <p:cNvSpPr txBox="1"/>
          <p:nvPr/>
        </p:nvSpPr>
        <p:spPr>
          <a:xfrm>
            <a:off x="3840480" y="5029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H5</a:t>
            </a:r>
            <a:endParaRPr lang="en-US" sz="3200" dirty="0"/>
          </a:p>
        </p:txBody>
      </p:sp>
      <p:sp>
        <p:nvSpPr>
          <p:cNvPr id="21" name="Hypothesis 5"/>
          <p:cNvSpPr txBox="1"/>
          <p:nvPr/>
        </p:nvSpPr>
        <p:spPr>
          <a:xfrm>
            <a:off x="4754880" y="5074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Expense category mix is associated with business unit</a:t>
            </a:r>
            <a:endParaRPr lang="en-US" sz="1400" dirty="0"/>
          </a:p>
        </p:txBody>
      </p:sp>
      <p:sp>
        <p:nvSpPr>
          <p:cNvPr id="22" name="Test 5"/>
          <p:cNvSpPr txBox="1"/>
          <p:nvPr/>
        </p:nvSpPr>
        <p:spPr>
          <a:xfrm>
            <a:off x="8915400" y="5074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Chi-square 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Category vs unit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 Boardroom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1146</Words>
  <Application>Microsoft Office PowerPoint</Application>
  <PresentationFormat>Widescreen</PresentationFormat>
  <Paragraphs>155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Ion Boardroom</vt:lpstr>
      <vt:lpstr>Financial Performance Analysis</vt:lpstr>
      <vt:lpstr>Business context and data overview</vt:lpstr>
      <vt:lpstr>Core business challenges</vt:lpstr>
      <vt:lpstr>From business questions to analytical goals</vt:lpstr>
      <vt:lpstr>KPIs: financial performance</vt:lpstr>
      <vt:lpstr>KPIs: people, customers and vendors</vt:lpstr>
      <vt:lpstr>Segmentation plan</vt:lpstr>
      <vt:lpstr>Hypotheses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Performance Analysis - Step 1</dc:title>
  <dc:subject>PptxGenJS Presentation</dc:subject>
  <dc:creator>Mausam</dc:creator>
  <cp:lastModifiedBy>Mausam Mishra</cp:lastModifiedBy>
  <cp:revision>5</cp:revision>
  <dcterms:created xsi:type="dcterms:W3CDTF">2026-10-23T14:17:06Z</dcterms:created>
  <dcterms:modified xsi:type="dcterms:W3CDTF">2026-10-23T15:03:21Z</dcterms:modified>
</cp:coreProperties>
</file>